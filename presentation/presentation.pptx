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embeddedFontLst>
    <p:embeddedFont>
      <p:font typeface="Alexandria Medium" panose="020B0604020202020204" charset="-78"/>
      <p:regular r:id="rId12"/>
    </p:embeddedFont>
    <p:embeddedFont>
      <p:font typeface="Manrope" panose="020B0604020202020204" charset="0"/>
      <p:regular r:id="rId13"/>
    </p:embeddedFont>
    <p:embeddedFont>
      <p:font typeface="Manrope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25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14921"/>
            <a:ext cx="5074805" cy="1541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QUAY Container Congestion Predictor &amp; Port Operations Optimiser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98973"/>
            <a:ext cx="2781834" cy="1166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kern="0" spc="-3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Predict early. Optimize collaboratively. Execute safely.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4113349"/>
            <a:ext cx="4722763" cy="1166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anose="020B0604020202020204" charset="-78"/>
                <a:cs typeface="Alexandria Medium" panose="020B0604020202020204" charset="-78"/>
              </a:rPr>
              <a:t>Jay Patel – 23DCS076</a:t>
            </a:r>
            <a:br>
              <a:rPr lang="en-US" sz="1100" dirty="0">
                <a:solidFill>
                  <a:srgbClr val="5B6E8C"/>
                </a:solidFill>
                <a:latin typeface="Alexandria Medium" panose="020B0604020202020204" charset="-78"/>
                <a:cs typeface="Alexandria Medium" panose="020B0604020202020204" charset="-78"/>
              </a:rPr>
            </a:br>
            <a:r>
              <a:rPr lang="en-US" sz="1100" dirty="0">
                <a:solidFill>
                  <a:srgbClr val="5B6E8C"/>
                </a:solidFill>
                <a:latin typeface="Alexandria Medium" panose="020B0604020202020204" charset="-78"/>
                <a:cs typeface="Alexandria Medium" panose="020B0604020202020204" charset="-78"/>
              </a:rPr>
              <a:t>Mahi Patel – 23DCS081</a:t>
            </a:r>
          </a:p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anose="020B0604020202020204" charset="-78"/>
                <a:cs typeface="Alexandria Medium" panose="020B0604020202020204" charset="-78"/>
              </a:rPr>
              <a:t>Vishwa Valand – 23DCS140</a:t>
            </a:r>
          </a:p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anose="020B0604020202020204" charset="-78"/>
                <a:cs typeface="Alexandria Medium" panose="020B0604020202020204" charset="-78"/>
              </a:rPr>
              <a:t>Vasu </a:t>
            </a:r>
            <a:r>
              <a:rPr lang="en-US" sz="1100" dirty="0" err="1">
                <a:solidFill>
                  <a:srgbClr val="5B6E8C"/>
                </a:solidFill>
                <a:latin typeface="Alexandria Medium" panose="020B0604020202020204" charset="-78"/>
                <a:cs typeface="Alexandria Medium" panose="020B0604020202020204" charset="-78"/>
              </a:rPr>
              <a:t>Vaghasia</a:t>
            </a:r>
            <a:r>
              <a:rPr lang="en-US" sz="1100" dirty="0">
                <a:solidFill>
                  <a:srgbClr val="5B6E8C"/>
                </a:solidFill>
                <a:latin typeface="Alexandria Medium" panose="020B0604020202020204" charset="-78"/>
                <a:cs typeface="Alexandria Medium" panose="020B0604020202020204" charset="-78"/>
              </a:rPr>
              <a:t> – 23DCS138</a:t>
            </a:r>
          </a:p>
        </p:txBody>
      </p:sp>
      <p:sp>
        <p:nvSpPr>
          <p:cNvPr id="6" name="Shape 3"/>
          <p:cNvSpPr/>
          <p:nvPr/>
        </p:nvSpPr>
        <p:spPr>
          <a:xfrm>
            <a:off x="496119" y="5727725"/>
            <a:ext cx="1940570" cy="215354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5770215"/>
            <a:ext cx="22276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QUAY · IBM BOBATHON 2026</a:t>
            </a: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BE4177-052C-B481-82CD-0FCEBE220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58" t="-188" r="27005" b="188"/>
          <a:stretch>
            <a:fillRect/>
          </a:stretch>
        </p:blipFill>
        <p:spPr>
          <a:xfrm>
            <a:off x="5547031" y="0"/>
            <a:ext cx="3596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716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Problem: Why Port Congestion Becomes a Chain Reaction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58727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8967" y="236666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4652962" y="2119536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Cascading Congestion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652962" y="2426047"/>
            <a:ext cx="38341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Vessel surges propagate across limited berths, cranes, and yard capacity.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182243"/>
            <a:ext cx="4722763" cy="10817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8967" y="359018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652962" y="3343052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Fragmented Planning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52962" y="3649563"/>
            <a:ext cx="38341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Spreadsheets and siloed systems make multi-resource constraints difficult to reconcile.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4405759"/>
            <a:ext cx="4722763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8967" y="481369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4652962" y="4566568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Reactive Decisions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52962" y="4873079"/>
            <a:ext cx="38341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Bottlenecks are often identified only after queues form, leaving little time to intervene.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925119" y="5646986"/>
            <a:ext cx="4722763" cy="793775"/>
          </a:xfrm>
          <a:prstGeom prst="roundRect">
            <a:avLst>
              <a:gd name="adj" fmla="val 26790"/>
            </a:avLst>
          </a:prstGeom>
          <a:solidFill>
            <a:srgbClr val="CDEFFE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877" y="5847755"/>
            <a:ext cx="177180" cy="14175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85816" y="5824165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result:</a:t>
            </a: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Vessel waiting • Resource conflicts • Yard pressure • Operational delays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77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2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Our Solution: QUAY — From Data to Smarter Port Operations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496119" y="4518645"/>
            <a:ext cx="2664098" cy="733574"/>
          </a:xfrm>
          <a:prstGeom prst="roundRect">
            <a:avLst>
              <a:gd name="adj" fmla="val 2174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144" y="4629671"/>
            <a:ext cx="24420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1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Ingest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7144" y="4843537"/>
            <a:ext cx="244204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Vessel schedules, berth/crane data, tide/weather, yard status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39914" y="4518645"/>
            <a:ext cx="2664098" cy="733574"/>
          </a:xfrm>
          <a:prstGeom prst="roundRect">
            <a:avLst>
              <a:gd name="adj" fmla="val 2174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50940" y="4629671"/>
            <a:ext cx="24420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1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Predict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50940" y="4843537"/>
            <a:ext cx="244204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72-hour congestion risk + vessel waiting-time forecasts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83709" y="4518645"/>
            <a:ext cx="2664098" cy="733574"/>
          </a:xfrm>
          <a:prstGeom prst="roundRect">
            <a:avLst>
              <a:gd name="adj" fmla="val 2174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4735" y="4629671"/>
            <a:ext cx="24420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1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Optimize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94735" y="4843537"/>
            <a:ext cx="244204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Joint berth and crane scheduling with OR-Tools CP-SAT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6119" y="5331916"/>
            <a:ext cx="4035996" cy="584746"/>
          </a:xfrm>
          <a:prstGeom prst="roundRect">
            <a:avLst>
              <a:gd name="adj" fmla="val 27275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144" y="5442942"/>
            <a:ext cx="38139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1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7144" y="5656808"/>
            <a:ext cx="381394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Independent safety &amp; feasibility checks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11812" y="5331916"/>
            <a:ext cx="4035996" cy="584746"/>
          </a:xfrm>
          <a:prstGeom prst="roundRect">
            <a:avLst>
              <a:gd name="adj" fmla="val 27275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2837" y="5442942"/>
            <a:ext cx="38139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1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Enable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22837" y="5656808"/>
            <a:ext cx="381394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9-shift operational plan + AI-assisted explanations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96119" y="6006331"/>
            <a:ext cx="8151763" cy="353392"/>
          </a:xfrm>
          <a:prstGeom prst="roundRect">
            <a:avLst>
              <a:gd name="adj" fmla="val 45131"/>
            </a:avLst>
          </a:prstGeom>
          <a:solidFill>
            <a:srgbClr val="CDEFFE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82" y="6124352"/>
            <a:ext cx="132904" cy="1062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41549" y="6112594"/>
            <a:ext cx="81572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Human-in-the-loop:</a:t>
            </a: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Review → Approve → Execute</a:t>
            </a:r>
            <a:endParaRPr lang="en-US" sz="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D7142B7-8D21-AE99-05C7-769486A2A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083915"/>
            <a:ext cx="7913712" cy="5275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022" y="406919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Predictive Intelligence: Predict Congestion. Explain the "Why."</a:t>
            </a:r>
            <a:endParaRPr lang="en-US" sz="2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918695"/>
            <a:ext cx="177180" cy="141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D6619B-4FC3-BC7C-EB44-820AD71FB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67" y="1366785"/>
            <a:ext cx="7970342" cy="5313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1998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Optimisation Engine: Find the Right Vessel. Right Berth. Right Crane. Right Time.</a:t>
            </a:r>
            <a:endParaRPr lang="en-US" sz="2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B901B7-0A8D-C845-5E11-F8327771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2" y="1361589"/>
            <a:ext cx="7914636" cy="5276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6979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72-Hour Operational Plan: From Optimisation to Actionable Shift Handover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356470"/>
            <a:ext cx="1156171" cy="215354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2398961"/>
            <a:ext cx="14432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× 8-HOUR SHIFTS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73129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plan provides: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117577"/>
            <a:ext cx="4004965" cy="514499"/>
          </a:xfrm>
          <a:prstGeom prst="roundRect">
            <a:avLst>
              <a:gd name="adj" fmla="val 4133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40" y="326409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Vessel sequence &amp; timings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42842" y="3117577"/>
            <a:ext cx="4005039" cy="514499"/>
          </a:xfrm>
          <a:prstGeom prst="roundRect">
            <a:avLst>
              <a:gd name="adj" fmla="val 4133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363" y="326409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Berth assignments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6119" y="3773835"/>
            <a:ext cx="4004965" cy="514499"/>
          </a:xfrm>
          <a:prstGeom prst="roundRect">
            <a:avLst>
              <a:gd name="adj" fmla="val 4133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392035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Crane allocations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42842" y="3773835"/>
            <a:ext cx="4005039" cy="514499"/>
          </a:xfrm>
          <a:prstGeom prst="roundRect">
            <a:avLst>
              <a:gd name="adj" fmla="val 4133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392035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Handover notes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6119" y="4430092"/>
            <a:ext cx="4004965" cy="514499"/>
          </a:xfrm>
          <a:prstGeom prst="roundRect">
            <a:avLst>
              <a:gd name="adj" fmla="val 4133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640" y="4576614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Alerts &amp; restrictions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42842" y="4430092"/>
            <a:ext cx="4005039" cy="514499"/>
          </a:xfrm>
          <a:prstGeom prst="roundRect">
            <a:avLst>
              <a:gd name="adj" fmla="val 4133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9363" y="4576614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Resource utilisation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96119" y="5104061"/>
            <a:ext cx="8151763" cy="566961"/>
          </a:xfrm>
          <a:prstGeom prst="roundRect">
            <a:avLst>
              <a:gd name="adj" fmla="val 37507"/>
            </a:avLst>
          </a:prstGeom>
          <a:solidFill>
            <a:srgbClr val="CDEFFE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304830"/>
            <a:ext cx="177180" cy="1417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56816" y="5281240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Adaptive Planning:</a:t>
            </a: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Disruption → Update constraints → Re-optimize → Compare alternatives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3647"/>
            <a:ext cx="8151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IBM Bob / Operations Copilot: Natural Language → Grounded Operational Intelligence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745209"/>
            <a:ext cx="4107135" cy="2909143"/>
          </a:xfrm>
          <a:prstGeom prst="roundRect">
            <a:avLst>
              <a:gd name="adj" fmla="val 11696"/>
            </a:avLst>
          </a:prstGeom>
          <a:solidFill>
            <a:srgbClr val="AAE4FE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886968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Supervisor asks: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8382" y="3395439"/>
            <a:ext cx="406821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"Why was Vessel X deferred to Shift 4?"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5781" y="3267894"/>
            <a:ext cx="19050" cy="481905"/>
          </a:xfrm>
          <a:prstGeom prst="roundRect">
            <a:avLst>
              <a:gd name="adj" fmla="val 50000"/>
            </a:avLst>
          </a:prstGeom>
          <a:solidFill>
            <a:srgbClr val="AAE4FE"/>
          </a:solidFill>
          <a:ln/>
        </p:spPr>
      </p:sp>
      <p:sp>
        <p:nvSpPr>
          <p:cNvPr id="7" name="Text 5"/>
          <p:cNvSpPr/>
          <p:nvPr/>
        </p:nvSpPr>
        <p:spPr>
          <a:xfrm>
            <a:off x="535781" y="3909268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QUAY retrieves: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5781" y="4272483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Vessel constraints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Berth availability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Crane status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Tide/weather conditions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Solver decision/evidence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288696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IBM watsonx.ai / Granite: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325018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Generates an evidence-grounded explanation.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361875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49701" y="3981971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Read-only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Evidence-grounded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approval required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9822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Architecture &amp; Tech Stack: Modular Architecture Built for Real-Time Planning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49314"/>
            <a:ext cx="2622724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41012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71663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 19 · TypeScript · Vite · Recharts · Leaflet · Vanilla CSS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2249314"/>
            <a:ext cx="2622724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241012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71663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3.12 · FastAPI · Uvicorn · Pydantic v2 · SSE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2249314"/>
            <a:ext cx="2622724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241012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ML &amp; Data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71663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scikit-learn · Pandas · NumPy · Joblib · FIFO Simulation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72830"/>
            <a:ext cx="2622724" cy="1308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63363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Optimisation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940150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OR-Tools CP-SAT · Independent Validation Engine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3472830"/>
            <a:ext cx="2622724" cy="13085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63363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940150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IBM watsonx.ai · Granite · IBM IAM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3472830"/>
            <a:ext cx="2622724" cy="130857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62092" y="363363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Persistence &amp; Testing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262092" y="3940150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SQLAlchemy · Alembic · SQLite/PostgreSQL · Pytest · Vitest · Playwright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923160"/>
            <a:ext cx="2622724" cy="85494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3127" y="508396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733127" y="5390480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Docker · Nginx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177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Impact &amp; Future: From Reactive Congestion Management to Predictive Operations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670349"/>
            <a:ext cx="4107135" cy="1910655"/>
          </a:xfrm>
          <a:prstGeom prst="roundRect">
            <a:avLst>
              <a:gd name="adj" fmla="val 17808"/>
            </a:avLst>
          </a:prstGeom>
          <a:solidFill>
            <a:srgbClr val="AAE4FE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812107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Impact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3175322"/>
            <a:ext cx="3823618" cy="1356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🚢 Lower vessel waiting time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⚙️ Higher berth &amp; crane utilisation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🛡️ Safer rule-compliant operations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🌱 Lower operational emissions &amp; cost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👨‍✈️ Faster supervisor decision-making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8121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Future Roadmap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317532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AIS &amp; TOS integration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Multi-port collaborative optimisation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 &amp; tug scheduling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digital-twin operations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8720" y="4899943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QUAY — Predict. Optimize. Explain. Enable.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4740473"/>
            <a:ext cx="19050" cy="545753"/>
          </a:xfrm>
          <a:prstGeom prst="roundRect">
            <a:avLst>
              <a:gd name="adj" fmla="val 50000"/>
            </a:avLst>
          </a:prstGeom>
          <a:solidFill>
            <a:srgbClr val="AAE4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470</Words>
  <Application>Microsoft Office PowerPoint</Application>
  <PresentationFormat>On-screen Show (4:3)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Manrope Bold</vt:lpstr>
      <vt:lpstr>Alexandria Medium</vt:lpstr>
      <vt:lpstr>Arial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vishva valand</dc:creator>
  <cp:lastModifiedBy>Vishva Valand</cp:lastModifiedBy>
  <cp:revision>5</cp:revision>
  <dcterms:created xsi:type="dcterms:W3CDTF">2026-09-15T16:05:29Z</dcterms:created>
  <dcterms:modified xsi:type="dcterms:W3CDTF">2026-09-15T17:05:17Z</dcterms:modified>
</cp:coreProperties>
</file>